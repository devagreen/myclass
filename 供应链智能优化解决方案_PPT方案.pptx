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提升幅度低值(%)</c:v>
                </c:pt>
              </c:strCache>
            </c:strRef>
          </c:tx>
          <c:spPr>
            <a:solidFill>
              <a:srgbClr val="8FAADC"/>
            </a:solidFill>
          </c:spPr>
          <c:cat>
            <c:strRef>
              <c:f>Sheet1!$A$2:$A$6</c:f>
              <c:strCache>
                <c:ptCount val="5"/>
                <c:pt idx="0">
                  <c:v>需求预测准确率</c:v>
                </c:pt>
                <c:pt idx="1">
                  <c:v>库存周转率</c:v>
                </c:pt>
                <c:pt idx="2">
                  <c:v>缺货率降低</c:v>
                </c:pt>
                <c:pt idx="3">
                  <c:v>物流成本降低</c:v>
                </c:pt>
                <c:pt idx="4">
                  <c:v>异常响应提速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15</c:v>
                </c:pt>
                <c:pt idx="2">
                  <c:v>20</c:v>
                </c:pt>
                <c:pt idx="3">
                  <c:v>5</c:v>
                </c:pt>
                <c:pt idx="4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提升幅度高值(%)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需求预测准确率</c:v>
                </c:pt>
                <c:pt idx="1">
                  <c:v>库存周转率</c:v>
                </c:pt>
                <c:pt idx="2">
                  <c:v>缺货率降低</c:v>
                </c:pt>
                <c:pt idx="3">
                  <c:v>物流成本降低</c:v>
                </c:pt>
                <c:pt idx="4">
                  <c:v>异常响应提速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</c:v>
                </c:pt>
                <c:pt idx="1">
                  <c:v>30</c:v>
                </c:pt>
                <c:pt idx="2">
                  <c:v>40</c:v>
                </c:pt>
                <c:pt idx="3">
                  <c:v>15</c:v>
                </c:pt>
                <c:pt idx="4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latin typeface="Microsoft YaHei"/>
              </a:rPr>
              <a:t>累计投入 vs 累计收益（万元）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累计投入(万元)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cat>
            <c:strRef>
              <c:f>Sheet1!$A$2:$A$4</c:f>
              <c:strCache>
                <c:ptCount val="3"/>
                <c:pt idx="0">
                  <c:v>第1年</c:v>
                </c:pt>
                <c:pt idx="1">
                  <c:v>第2年</c:v>
                </c:pt>
                <c:pt idx="2">
                  <c:v>第3年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450</c:v>
                </c:pt>
                <c:pt idx="1">
                  <c:v>600</c:v>
                </c:pt>
                <c:pt idx="2">
                  <c:v>650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累计收益(万元)</c:v>
                </c:pt>
              </c:strCache>
            </c:strRef>
          </c:tx>
          <c:spPr>
            <a:ln>
              <a:solidFill>
                <a:srgbClr val="548235"/>
              </a:solidFill>
            </a:ln>
          </c:spPr>
          <c:cat>
            <c:strRef>
              <c:f>Sheet1!$A$2:$A$4</c:f>
              <c:strCache>
                <c:ptCount val="3"/>
                <c:pt idx="0">
                  <c:v>第1年</c:v>
                </c:pt>
                <c:pt idx="1">
                  <c:v>第2年</c:v>
                </c:pt>
                <c:pt idx="2">
                  <c:v>第3年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200</c:v>
                </c:pt>
                <c:pt idx="1">
                  <c:v>850</c:v>
                </c:pt>
                <c:pt idx="2">
                  <c:v>1600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Microsoft YaHe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5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latin typeface="Microsoft YaHei"/>
              </a:rPr>
              <a:t>年化收益构成占比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收益占比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548235"/>
              </a:solidFill>
            </c:spPr>
          </c:dPt>
          <c:dPt>
            <c:idx val="2"/>
            <c:spPr>
              <a:solidFill>
                <a:srgbClr val="ED7D31"/>
              </a:solidFill>
            </c:spPr>
          </c:dPt>
          <c:dPt>
            <c:idx val="3"/>
            <c:spPr>
              <a:solidFill>
                <a:srgbClr val="BF8F00"/>
              </a:solidFill>
            </c:spPr>
          </c:dPt>
          <c:cat>
            <c:strRef>
              <c:f>Sheet1!$A$2:$A$5</c:f>
              <c:strCache>
                <c:ptCount val="4"/>
                <c:pt idx="0">
                  <c:v>库存成本降低</c:v>
                </c:pt>
                <c:pt idx="1">
                  <c:v>物流成本降低</c:v>
                </c:pt>
                <c:pt idx="2">
                  <c:v>缺货损失减少</c:v>
                </c:pt>
                <c:pt idx="3">
                  <c:v>人力效率提升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25</c:v>
                </c:pt>
                <c:pt idx="3">
                  <c:v>15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50">
                  <a:solidFill>
                    <a:srgbClr val="FFFFFF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105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8FAADC"/>
                </a:solidFill>
                <a:latin typeface="Microsoft YaHei"/>
              </a:rPr>
              <a:t>Intelligent Supply Chain Optimization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9D6EA"/>
                </a:solidFill>
                <a:latin typeface="Microsoft YaHei"/>
              </a:rPr>
              <a:t>架构设计  |  核心算法  |  收益测算  |  实施路线图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9D6EA"/>
                </a:solidFill>
                <a:latin typeface="Microsoft YaHei"/>
              </a:rPr>
              <a:t>汇报人：XXX　|　部门：数字化转型中心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6895" y="59436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C9D6EA"/>
                </a:solidFill>
                <a:latin typeface="Microsoft YaHei"/>
              </a:rP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</a:rPr>
              <a:t>目录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9E2F3"/>
                </a:solidFill>
                <a:latin typeface="Arial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691640"/>
            <a:ext cx="2540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178308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</a:rPr>
              <a:t>项目背景与现状痛点分析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0020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9E2F3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691640"/>
            <a:ext cx="2540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78308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</a:rPr>
              <a:t>建设目标与总体思路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9E2F3"/>
                </a:solidFill>
                <a:latin typeface="Arial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2834640"/>
            <a:ext cx="2540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92608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</a:rPr>
              <a:t>总体技术架构设计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74320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9E2F3"/>
                </a:solidFill>
                <a:latin typeface="Arial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834640"/>
            <a:ext cx="2540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92608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</a:rPr>
              <a:t>核心算法模块方案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9E2F3"/>
                </a:solidFill>
                <a:latin typeface="Arial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3977640"/>
            <a:ext cx="2540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406908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</a:rPr>
              <a:t>系统功能与技术选型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88620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9E2F3"/>
                </a:solidFill>
                <a:latin typeface="Arial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3977640"/>
            <a:ext cx="2540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406908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</a:rPr>
              <a:t>系统集成与安全合规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9E2F3"/>
                </a:solidFill>
                <a:latin typeface="Arial"/>
              </a:rPr>
              <a:t>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5120640"/>
            <a:ext cx="2540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0" y="521208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</a:rPr>
              <a:t>实施路线图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02920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9E2F3"/>
                </a:solidFill>
                <a:latin typeface="Arial"/>
              </a:rPr>
              <a:t>08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5120640"/>
            <a:ext cx="2540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521208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</a:rPr>
              <a:t>收益测算与风险应对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项目背景与行业趋势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01 项目背景与现状痛点分析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2697480" cy="7315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864"/>
                </a:solidFill>
                <a:latin typeface="Microsoft YaHei"/>
              </a:rPr>
              <a:t>需求波动加剧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</a:rPr>
              <a:t>消费者需求日益个性化，市场变化快，传统计划模式响应滞后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23444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2" y="1234440"/>
            <a:ext cx="2697480" cy="7315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14630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864"/>
                </a:solidFill>
                <a:latin typeface="Microsoft YaHei"/>
              </a:rPr>
              <a:t>成本压力上升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01168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</a:rPr>
              <a:t>原材料、物流、人力成本持续攀升，倒逼企业提升运营效率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123444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234440"/>
            <a:ext cx="2697480" cy="7315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4630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864"/>
                </a:solidFill>
                <a:latin typeface="Microsoft YaHei"/>
              </a:rPr>
              <a:t>供应链不确定性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</a:rPr>
              <a:t>地缘政治、极端天气、突发事件频发，供应链韧性要求提高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4856" y="123444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34856" y="1234440"/>
            <a:ext cx="2697480" cy="7315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17736" y="14630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864"/>
                </a:solidFill>
                <a:latin typeface="Microsoft YaHei"/>
              </a:rPr>
              <a:t>数字化转型加速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6" y="201168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</a:rPr>
              <a:t>AI、大数据、物联网技术成熟，为供应链智能化提供技术基础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5204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864"/>
                </a:solidFill>
                <a:latin typeface="Microsoft YaHei"/>
              </a:rPr>
              <a:t>行业普遍面临的核心矛盾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31920"/>
            <a:ext cx="10698480" cy="1737360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160520"/>
            <a:ext cx="100584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Microsoft YaHei"/>
              </a:rPr>
              <a:t>“需求端的不确定性” × “供给端的刚性约束” × “决策端的经验依赖”</a:t>
            </a:r>
          </a:p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Microsoft YaHei"/>
              </a:rPr>
              <a:t>→ 库存积压与缺货并存、物流成本居高不下、供应商协同效率低、异常响应滞后</a:t>
            </a:r>
          </a:p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Microsoft YaHei"/>
              </a:rPr>
              <a:t>→ 亟需从“经验驱动”转向“数据+算法驱动”的智能供应链管理体系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现状痛点分析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01 项目背景与现状痛点分析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88720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1353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3716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3864"/>
                </a:solidFill>
                <a:latin typeface="Microsoft YaHei"/>
              </a:rPr>
              <a:t>需求计划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预测准确率低（普遍&lt;60%），依赖人工经验，SKU/区域颗粒度粗放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188720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5112" y="1353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3716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3864"/>
                </a:solidFill>
                <a:latin typeface="Microsoft YaHei"/>
              </a:rPr>
              <a:t>库存管理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05740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安全库存设置粗放，多级库存缺乏协同，呆滞库存与缺货并存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188720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82712" y="1353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13716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3864"/>
                </a:solidFill>
                <a:latin typeface="Microsoft YaHei"/>
              </a:rPr>
              <a:t>采购与生产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05740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采购计划与实际需求脱节，产能与订单排产协同效率低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20440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36850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70332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3864"/>
                </a:solidFill>
                <a:latin typeface="Microsoft YaHei"/>
              </a:rPr>
              <a:t>运输配送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8912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路径规划依赖经验，承运商匹配缺乏量化评估，运输成本偏高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520440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25112" y="36850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70332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3864"/>
                </a:solidFill>
                <a:latin typeface="Microsoft YaHei"/>
              </a:rPr>
              <a:t>供应商管理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38912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供应商风险识别滞后，交付问题被动发现，协同信息不透明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3520440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982712" y="36850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70332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3864"/>
                </a:solidFill>
                <a:latin typeface="Microsoft YaHei"/>
              </a:rPr>
              <a:t>异常与决策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38912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缺乏统一监控与预警机制，跨部门数据孤岛，决策响应慢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建设目标与总体思路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02 建设目标与总体思路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3864"/>
                </a:solidFill>
                <a:latin typeface="Microsoft YaHei"/>
              </a:rPr>
              <a:t>建设目标：以数据为基础、算法为核心，构建“预测-决策-执行-反馈”全链路智能闭环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9E2F3"/>
                </a:solidFill>
                <a:latin typeface="Microsoft YaHei"/>
              </a:rPr>
              <a:t>GOAL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icrosoft YaHei"/>
              </a:rPr>
              <a:t>降本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</a:rPr>
              <a:t>库存/物流/采购成本降低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6459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73736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9E2F3"/>
                </a:solidFill>
                <a:latin typeface="Microsoft YaHei"/>
              </a:rPr>
              <a:t>GOAL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96596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icrosoft YaHei"/>
              </a:rPr>
              <a:t>增效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37744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</a:rPr>
              <a:t>计划与响应效率提升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6459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73736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9E2F3"/>
                </a:solidFill>
                <a:latin typeface="Microsoft YaHei"/>
              </a:rPr>
              <a:t>GOAL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96596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icrosoft YaHei"/>
              </a:rPr>
              <a:t>提质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37744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</a:rPr>
              <a:t>预测准确率与服务水平提升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6459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173736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9E2F3"/>
                </a:solidFill>
                <a:latin typeface="Microsoft YaHei"/>
              </a:rPr>
              <a:t>GOAL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196596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icrosoft YaHei"/>
              </a:rPr>
              <a:t>控险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37744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</a:rPr>
              <a:t>供应链风险可视、可控、可预警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2918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3864"/>
                </a:solidFill>
                <a:latin typeface="Microsoft YaHei"/>
              </a:rPr>
              <a:t>总体思路：数据驱动 · 模型赋能 · 平台支撑 · 分步实施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79476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397763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02336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3864"/>
                </a:solidFill>
                <a:latin typeface="Microsoft YaHei"/>
              </a:rPr>
              <a:t>数据打通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7200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整合ERP/MES/WMS/TMS/SRM等多源数据，构建数据中台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154680" y="4709160"/>
            <a:ext cx="137160" cy="0"/>
          </a:xfrm>
          <a:prstGeom prst="line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291840" y="379476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74720" y="397763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402336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3864"/>
                </a:solidFill>
                <a:latin typeface="Microsoft YaHei"/>
              </a:rPr>
              <a:t>模型构建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57200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预测/库存/路径/风险等算法模型研发与训练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897880" y="4709160"/>
            <a:ext cx="137160" cy="0"/>
          </a:xfrm>
          <a:prstGeom prst="line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035040" y="379476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17920" y="397763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402336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3864"/>
                </a:solidFill>
                <a:latin typeface="Microsoft YaHei"/>
              </a:rPr>
              <a:t>平台建设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57200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搭建智能应用平台与可视化决策驾驶舱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641080" y="4709160"/>
            <a:ext cx="137160" cy="0"/>
          </a:xfrm>
          <a:prstGeom prst="line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778240" y="379476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961120" y="397763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402336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3864"/>
                </a:solidFill>
                <a:latin typeface="Microsoft YaHei"/>
              </a:rPr>
              <a:t>场景落地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457200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试点验证 → 迭代优化 → 全面推广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总体技术架构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03 总体技术架构设计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960120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16152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决策层  Decision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</a:rPr>
              <a:t>可视化驾驶舱  ·  KPI监控  ·  What-if仿真  ·  辅助决策报告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49240.0" y="1920240"/>
            <a:ext cx="0.0" cy="164592"/>
          </a:xfrm>
          <a:prstGeom prst="line">
            <a:avLst/>
          </a:prstGeom>
          <a:ln w="2286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8640" y="2084832"/>
            <a:ext cx="9601200" cy="777240"/>
          </a:xfrm>
          <a:prstGeom prst="roundRect">
            <a:avLst>
              <a:gd name="adj" fmla="val 8000"/>
            </a:avLst>
          </a:prstGeom>
          <a:solidFill>
            <a:srgbClr val="2E5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157984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应用层  Application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96312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</a:rPr>
              <a:t>智能补货 · 智能排产 · 智能调度 · 异常预警 · 供应商协同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49240.0" y="2862072"/>
            <a:ext cx="0.0" cy="164592"/>
          </a:xfrm>
          <a:prstGeom prst="line">
            <a:avLst/>
          </a:prstGeom>
          <a:ln w="2286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" y="3026664"/>
            <a:ext cx="9601200" cy="77724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99816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算法层  Algorithm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38144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</a:rPr>
              <a:t>需求预测 · 库存优化 · 路径优化(VRP) · 供应商风险评估 · 数字孪生仿真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49240.0" y="3803904"/>
            <a:ext cx="0.0" cy="164592"/>
          </a:xfrm>
          <a:prstGeom prst="line">
            <a:avLst/>
          </a:prstGeom>
          <a:ln w="2286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8640" y="3968496"/>
            <a:ext cx="9601200" cy="777240"/>
          </a:xfrm>
          <a:prstGeom prst="roundRect">
            <a:avLst>
              <a:gd name="adj" fmla="val 8000"/>
            </a:avLst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41648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数据层  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79976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</a:rPr>
              <a:t>ERP · MES · WMS · TMS · SRM · 外部数据(天气/宏观/舆情)  →  供应链数据中台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78440" y="1143000"/>
            <a:ext cx="1280160" cy="3794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69880" y="123444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00000"/>
                </a:solidFill>
                <a:latin typeface="Microsoft YaHei"/>
              </a:rPr>
              <a:t>安全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00000"/>
                </a:solidFill>
                <a:latin typeface="Microsoft YaHei"/>
              </a:rPr>
              <a:t>合规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69880" y="2103120"/>
            <a:ext cx="1097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262626"/>
                </a:solidFill>
                <a:latin typeface="Microsoft YaHei"/>
              </a:rPr>
              <a:t>加密</a:t>
            </a:r>
          </a:p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262626"/>
                </a:solidFill>
                <a:latin typeface="Microsoft YaHei"/>
              </a:rPr>
              <a:t>权限</a:t>
            </a:r>
          </a:p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262626"/>
                </a:solidFill>
                <a:latin typeface="Microsoft YaHei"/>
              </a:rPr>
              <a:t>审计</a:t>
            </a:r>
          </a:p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262626"/>
                </a:solidFill>
                <a:latin typeface="Microsoft YaHei"/>
              </a:rPr>
              <a:t>容灾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57800"/>
            <a:ext cx="10698480" cy="594360"/>
          </a:xfrm>
          <a:prstGeom prst="roundRect">
            <a:avLst>
              <a:gd name="adj" fmla="val 10000"/>
            </a:avLst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257800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3864"/>
                </a:solidFill>
                <a:latin typeface="Microsoft YaHei"/>
              </a:rPr>
              <a:t>技术支撑平台：云原生（容器化/微服务） · 大数据平台（Hadoop/Spark/Flink） · AI算法平台（Python/TensorFlow/OR-Tools）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供应链数据中台方案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03 总体技术架构设计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2606040" cy="3291840"/>
          </a:xfrm>
          <a:prstGeom prst="roundRect">
            <a:avLst>
              <a:gd name="adj" fmla="val 7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数据采集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22402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Microsoft YaHei"/>
              </a:rPr>
              <a:t>ERP/MES/WMS/TMS/SRM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Microsoft YaHei"/>
              </a:rPr>
              <a:t>API/DB同步、消息队列、爬虫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54680" y="2926080.0"/>
            <a:ext cx="182880" cy="0.0"/>
          </a:xfrm>
          <a:prstGeom prst="line">
            <a:avLst/>
          </a:prstGeom>
          <a:ln w="2540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37560" y="1280160"/>
            <a:ext cx="2606040" cy="3291840"/>
          </a:xfrm>
          <a:prstGeom prst="roundRect">
            <a:avLst>
              <a:gd name="adj" fmla="val 7000"/>
            </a:avLst>
          </a:prstGeom>
          <a:solidFill>
            <a:srgbClr val="2E5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50876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数据治理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03120"/>
            <a:ext cx="22402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Microsoft YaHei"/>
              </a:rPr>
              <a:t>主数据管理、清洗、标准化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Microsoft YaHei"/>
              </a:rPr>
              <a:t>质量监控、元数据管理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0" y="2926080.0"/>
            <a:ext cx="182880" cy="0.0"/>
          </a:xfrm>
          <a:prstGeom prst="line">
            <a:avLst/>
          </a:prstGeom>
          <a:ln w="2540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26480" y="1280160"/>
            <a:ext cx="2606040" cy="3291840"/>
          </a:xfrm>
          <a:prstGeom prst="roundRect">
            <a:avLst>
              <a:gd name="adj" fmla="val 7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0876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数据存储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03120"/>
            <a:ext cx="22402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Microsoft YaHei"/>
              </a:rPr>
              <a:t>数据湖+数据仓库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Microsoft YaHei"/>
              </a:rPr>
              <a:t>分层建模(ODS/DWD/DWS/ADS)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32520" y="2926080.0"/>
            <a:ext cx="182880" cy="0.0"/>
          </a:xfrm>
          <a:prstGeom prst="line">
            <a:avLst/>
          </a:prstGeom>
          <a:ln w="2540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15400" y="1280160"/>
            <a:ext cx="2606040" cy="3291840"/>
          </a:xfrm>
          <a:prstGeom prst="roundRect">
            <a:avLst>
              <a:gd name="adj" fmla="val 7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50876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数据服务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103120"/>
            <a:ext cx="22402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Microsoft YaHei"/>
              </a:rPr>
              <a:t>统一数据API、指标中心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Microsoft YaHei"/>
              </a:rPr>
              <a:t>数据资产目录、权限管控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00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Microsoft YaHei"/>
              </a:rPr>
              <a:t>数据来源覆盖：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120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62626"/>
                </a:solidFill>
                <a:latin typeface="Microsoft YaHei"/>
              </a:rPr>
              <a:t>内部数据：订单、库存、生产、运输、供应商台账、财务成本数据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62626"/>
                </a:solidFill>
                <a:latin typeface="Microsoft YaHei"/>
              </a:rPr>
              <a:t>外部数据：宏观经济指标、天气、节假日促销、行业舆情、原材料价格指数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核心算法模块总览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04 核心算法模块方案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2011680" cy="2743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2011680" cy="32004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需求预测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1737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Prophet / LSTM / XGBoost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多模型融合，SKU级滚动预测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1371600"/>
            <a:ext cx="2011680" cy="2743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51760" y="137160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1691640"/>
            <a:ext cx="2011680" cy="32004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150876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库存优化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240280"/>
            <a:ext cx="1737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动态安全库存、EOQ、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多级库存协同补货策略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1371600"/>
            <a:ext cx="2011680" cy="2743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00600" y="137160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00600" y="1691640"/>
            <a:ext cx="2011680" cy="3200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150876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路径优化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240280"/>
            <a:ext cx="1737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VRP车辆路径规划、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承运商智能匹配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1371600"/>
            <a:ext cx="2011680" cy="2743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0" y="137160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9440" y="1691640"/>
            <a:ext cx="2011680" cy="3200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150876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供应商风险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240280"/>
            <a:ext cx="1737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风险画像、预警模型、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多维评分体系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1371600"/>
            <a:ext cx="2011680" cy="2743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98280" y="137160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280" y="1691640"/>
            <a:ext cx="2011680" cy="3200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150876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数字孪生仿真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240280"/>
            <a:ext cx="1737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端到端仿真、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What-if场景推演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34340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1F3864"/>
                </a:solidFill>
                <a:latin typeface="Microsoft YaHei"/>
              </a:rPr>
              <a:t>算法闭环逻辑：需求预测输出未来需求 → 驱动库存优化确定补货量 → 路径优化生成最优配送方案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1F3864"/>
                </a:solidFill>
                <a:latin typeface="Microsoft YaHei"/>
              </a:rPr>
              <a:t>→ 供应商风险模型实时监控供给端风险 → 数字孪生仿真验证策略有效性并反哺模型迭代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51960"/>
            <a:ext cx="73152" cy="13716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需求预测算法方案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04 核心算法模块方案 · 需求预测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5760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" b="0" i="0">
                <a:solidFill>
                  <a:srgbClr val="000000"/>
                </a:solidFill>
                <a:latin typeface="Microsoft YaHe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73152" cy="7772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430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Microsoft YaHei"/>
              </a:rPr>
              <a:t>输入特征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490472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历史销量、价格、促销、季节性、天气、宏观经济、竞品活动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03120"/>
            <a:ext cx="73152" cy="7772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Microsoft YaHei"/>
              </a:rPr>
              <a:t>模型选型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50592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Prophet（趋势季节性分解）、LSTM（长周期依赖）、XGBoost（多特征融合），按品类动态选择最优模型或集成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63240"/>
            <a:ext cx="73152" cy="7772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06324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Microsoft YaHei"/>
              </a:rPr>
              <a:t>预测粒度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10712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SKU × 区域/门店 × 天/周，滚动预测 + 滚动校准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23360"/>
            <a:ext cx="73152" cy="7772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Microsoft YaHei"/>
              </a:rPr>
              <a:t>模型评估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70832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MAPE、WMAPE、偏差率，设定预测准确率红线并持续监控漂移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143000"/>
            <a:ext cx="5394960" cy="3794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2801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Microsoft YaHei"/>
              </a:rPr>
              <a:t>预测流程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1737360"/>
            <a:ext cx="5029200" cy="384048"/>
          </a:xfrm>
          <a:prstGeom prst="roundRect">
            <a:avLst>
              <a:gd name="adj" fmla="val 15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737360"/>
            <a:ext cx="4663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1. 数据接入与清洗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06840" y="2121408"/>
            <a:ext cx="0" cy="118872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92240" y="2258567"/>
            <a:ext cx="5029200" cy="384048"/>
          </a:xfrm>
          <a:prstGeom prst="roundRect">
            <a:avLst>
              <a:gd name="adj" fmla="val 15000"/>
            </a:avLst>
          </a:prstGeom>
          <a:solidFill>
            <a:srgbClr val="2E5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258567"/>
            <a:ext cx="4663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2. 特征工程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06840" y="2642615"/>
            <a:ext cx="0" cy="118872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492240" y="2779774"/>
            <a:ext cx="5029200" cy="384048"/>
          </a:xfrm>
          <a:prstGeom prst="roundRect">
            <a:avLst>
              <a:gd name="adj" fmla="val 15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2779774"/>
            <a:ext cx="4663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3. 多模型训练与回测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06840" y="3163822"/>
            <a:ext cx="0" cy="118872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492240" y="3300981"/>
            <a:ext cx="5029200" cy="384048"/>
          </a:xfrm>
          <a:prstGeom prst="roundRect">
            <a:avLst>
              <a:gd name="adj" fmla="val 15000"/>
            </a:avLst>
          </a:prstGeom>
          <a:solidFill>
            <a:srgbClr val="2E5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300981"/>
            <a:ext cx="4663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4. 模型选优/集成融合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06840" y="3685029"/>
            <a:ext cx="0" cy="118872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492240" y="3822188"/>
            <a:ext cx="5029200" cy="384048"/>
          </a:xfrm>
          <a:prstGeom prst="roundRect">
            <a:avLst>
              <a:gd name="adj" fmla="val 15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3822188"/>
            <a:ext cx="4663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5. 滚动预测输出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006840" y="4206236"/>
            <a:ext cx="0" cy="118872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492240" y="4343395"/>
            <a:ext cx="5029200" cy="384048"/>
          </a:xfrm>
          <a:prstGeom prst="roundRect">
            <a:avLst>
              <a:gd name="adj" fmla="val 15000"/>
            </a:avLst>
          </a:prstGeom>
          <a:solidFill>
            <a:srgbClr val="2E5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4343395"/>
            <a:ext cx="4663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6. 异常预警反馈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库存智能优化方案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04 核心算法模块方案 · 库存优化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73152" cy="160020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07592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3864"/>
                </a:solidFill>
                <a:latin typeface="Microsoft YaHei"/>
              </a:rPr>
              <a:t>动态安全库存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37360"/>
            <a:ext cx="4709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基于需求波动率、供应商交期波动、服务水平目标，动态计算各SKU安全库存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14300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143000"/>
            <a:ext cx="73152" cy="160020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307592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3864"/>
                </a:solidFill>
                <a:latin typeface="Microsoft YaHei"/>
              </a:rPr>
              <a:t>多级库存协同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737360"/>
            <a:ext cx="4709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中心仓-区域仓-门店/经销商多级网络协同规划，降低牛鞭效应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73152" cy="160020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90672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3864"/>
                </a:solidFill>
                <a:latin typeface="Microsoft YaHei"/>
              </a:rPr>
              <a:t>智能补货策略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20440"/>
            <a:ext cx="4709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VMI供应商管理库存 + 经济订货批量(EOQ) + 周期性补货相结合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292608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2926080"/>
            <a:ext cx="73152" cy="160020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090672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3864"/>
                </a:solidFill>
                <a:latin typeface="Microsoft YaHei"/>
              </a:rPr>
              <a:t>库存健康度监控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520440"/>
            <a:ext cx="4709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呆滞/超储/短缺预警，ABC分类分级管理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177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Microsoft YaHei"/>
              </a:rPr>
              <a:t>核心公式示意：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29200"/>
            <a:ext cx="10698480" cy="8686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20640"/>
            <a:ext cx="10149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Microsoft YaHei"/>
              </a:rPr>
              <a:t>安全库存 SS = Z × σ_LT × √LT　　（Z:服务水平系数　σ_LT:需求波动标准差　LT:补货提前期）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运输路径优化方案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04 核心算法模块方案 · 路径优化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2560320" cy="310896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VRP车辆路径规划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21945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</a:rPr>
              <a:t>考虑车辆载重、时间窗、里程约束，求解最优配送路径组合，降低空驶率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234440"/>
            <a:ext cx="2560320" cy="310896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14630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承运商智能匹配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286000"/>
            <a:ext cx="21945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</a:rPr>
              <a:t>成本、时效、服务质量、碳排放多维度评分，动态选择最优承运商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98464" y="1234440"/>
            <a:ext cx="2560320" cy="3108960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1344" y="14630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实时运输监控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2286000"/>
            <a:ext cx="21945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</a:rPr>
              <a:t>GPS/物联网数据接入，实时轨迹跟踪与异常（延误/绕路）预警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23376" y="1234440"/>
            <a:ext cx="2560320" cy="310896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06256" y="14630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运力网络优化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2286000"/>
            <a:ext cx="21945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</a:rPr>
              <a:t>仓网布局仿真，评估新增/调整仓库对整体运输成本的影响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10698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 i="0">
                <a:solidFill>
                  <a:srgbClr val="262626"/>
                </a:solidFill>
                <a:latin typeface="Microsoft YaHei"/>
              </a:rPr>
              <a:t>算法工具：Google OR-Tools / 遗传算法 / 模拟退火，求解带时间窗约束的车辆路径问题(VRPTW)</a:t>
            </a:r>
          </a:p>
          <a:p>
            <a:pPr algn="l">
              <a:lnSpc>
                <a:spcPct val="160000"/>
              </a:lnSpc>
            </a:pPr>
            <a:r>
              <a:rPr sz="1250" b="0" i="0">
                <a:solidFill>
                  <a:srgbClr val="262626"/>
                </a:solidFill>
                <a:latin typeface="Microsoft YaHei"/>
              </a:rPr>
              <a:t>预期效果：车辆装载率提升10%-15%，配送里程降低8%-12%，准时交付率提升至95%以上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供应商风险评估与协同方案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04 核心算法模块方案 · 供应商风险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交付能力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准时交付率、订单履约率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00000"/>
                </a:solidFill>
                <a:latin typeface="Microsoft YaHei"/>
              </a:rPr>
              <a:t>权重 30%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18872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73552" y="118872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3552" y="118872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质量水平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17830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质量合格率、退货率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6060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00000"/>
                </a:solidFill>
                <a:latin typeface="Microsoft YaHei"/>
              </a:rPr>
              <a:t>权重 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8464" y="118872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98464" y="118872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98464" y="118872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价格竞争力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5624" y="17830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价格波动、成本对比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5624" y="26060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00000"/>
                </a:solidFill>
                <a:latin typeface="Microsoft YaHei"/>
              </a:rPr>
              <a:t>权重 20%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23376" y="118872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23376" y="118872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23376" y="118872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风险敞口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0536" y="17830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单一来源、地缘政治、财务状况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6060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00000"/>
                </a:solidFill>
                <a:latin typeface="Microsoft YaHei"/>
              </a:rPr>
              <a:t>权重 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2461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3864"/>
                </a:solidFill>
                <a:latin typeface="Microsoft YaHei"/>
              </a:rPr>
              <a:t>供应商综合评分 = Σ(各维度得分 × 权重)  →  分级管理（战略/优选/合格/风险/淘汰）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794760"/>
            <a:ext cx="10698480" cy="173736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977639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供应商协同平台核心能力：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• 订单/预测信息共享 — 减少牛鞭效应，提升供应商备货准确性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• 智能预警 — 单一来源风险、产能瓶颈、地缘政治风险提前预警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• 绩效看板 — 供应商实时履约表现可视化，支撑季度考核与谈判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供应链数字孪生与仿真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04 核心算法模块方案 · 数字孪生仿真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Microsoft YaHei"/>
              </a:rPr>
              <a:t>构建端到端供应链数字孪生模型，实现策略仿真验证与应急预案制定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201167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060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3864"/>
                </a:solidFill>
                <a:latin typeface="Microsoft YaHei"/>
              </a:rPr>
              <a:t>原材料涨价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71799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62626"/>
                </a:solidFill>
                <a:latin typeface="Microsoft YaHei"/>
              </a:rPr>
              <a:t>模拟原材料价格上涨20%对成本与库存策略的影响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874519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10712" y="201167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26060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3864"/>
                </a:solidFill>
                <a:latin typeface="Microsoft YaHei"/>
              </a:rPr>
              <a:t>供应商停产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2971799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62626"/>
                </a:solidFill>
                <a:latin typeface="Microsoft YaHei"/>
              </a:rPr>
              <a:t>模拟单一供应商突发停产，评估备选方案与切换时效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98464" y="1874519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35624" y="201167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5624" y="26060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3864"/>
                </a:solidFill>
                <a:latin typeface="Microsoft YaHei"/>
              </a:rPr>
              <a:t>需求激增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5624" y="2971799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62626"/>
                </a:solidFill>
                <a:latin typeface="Microsoft YaHei"/>
              </a:rPr>
              <a:t>模拟促销/爆款导致需求激增300%，测算产能与库存缺口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23376" y="1874519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60536" y="201167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536" y="26060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3864"/>
                </a:solidFill>
                <a:latin typeface="Microsoft YaHei"/>
              </a:rPr>
              <a:t>物流中断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0536" y="2971799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62626"/>
                </a:solidFill>
                <a:latin typeface="Microsoft YaHei"/>
              </a:rPr>
              <a:t>模拟主干运输通道中断，评估应急运力调度方案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06240"/>
            <a:ext cx="10698480" cy="13716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38912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FFFFFF"/>
                </a:solidFill>
                <a:latin typeface="Microsoft YaHei"/>
              </a:rPr>
              <a:t>价值：将“被动应对”转变为“主动预演”，提前制定应急预案，缩短异常响应时间从“天级”到“小时级”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系统功能模块地图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05 系统功能与技术选型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2560320" cy="1463040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S&amp;OP协同计划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产销协同、滚动计划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8688" y="1188720"/>
            <a:ext cx="2560320" cy="146304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3716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智能补货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9202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自动补货建议、审批流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88736" y="1188720"/>
            <a:ext cx="2560320" cy="146304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25896" y="13716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智能排产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5896" y="19202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产能匹配、排产优化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58784" y="1188720"/>
            <a:ext cx="2560320" cy="14630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95944" y="13716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智能调度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95944" y="19202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运输路径、承运商匹配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788920"/>
            <a:ext cx="2560320" cy="146304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971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供应商协同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204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预测共享、绩效评估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18688" y="2788920"/>
            <a:ext cx="2560320" cy="146304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5848" y="2971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异常预警中心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5848" y="35204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多维监控、实时告警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88736" y="2788920"/>
            <a:ext cx="2560320" cy="1463040"/>
          </a:xfrm>
          <a:prstGeom prst="roundRect">
            <a:avLst>
              <a:gd name="adj" fmla="val 10000"/>
            </a:avLst>
          </a:prstGeom>
          <a:solidFill>
            <a:srgbClr val="2E5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25896" y="2971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决策驾驶舱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25896" y="35204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KPI看板、仿真分析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58784" y="2788920"/>
            <a:ext cx="2560320" cy="1463040"/>
          </a:xfrm>
          <a:prstGeom prst="roundRect">
            <a:avLst>
              <a:gd name="adj" fmla="val 1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95944" y="2971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移动端应用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95944" y="35204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审批、预警推送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2062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95959"/>
                </a:solidFill>
                <a:latin typeface="Microsoft YaHei"/>
              </a:rPr>
              <a:t>各模块通过统一数据中台与算法平台支撑，实现数据互通与流程联动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技术选型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05 系统功能与技术选型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8872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97680"/>
                <a:gridCol w="457200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类别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技术选型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Microsoft YaHei"/>
                        </a:rPr>
                        <a:t>开发语言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Java / Python / 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后端服务、算法建模、高并发调度服务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Microsoft YaHei"/>
                        </a:rPr>
                        <a:t>大数据组件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Hadoop / Spark / Flink / Kafka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离线批处理、实时流计算、消息队列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Microsoft YaHei"/>
                        </a:rPr>
                        <a:t>数据库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MySQL / PostgreSQL / ClickHouse / Redis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事务型、OLAP分析型、缓存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Microsoft YaHei"/>
                        </a:rPr>
                        <a:t>算法框架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Scikit-learn / XGBoost / TensorFlow / PyTorch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机器学习与深度学习建模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Microsoft YaHei"/>
                        </a:rPr>
                        <a:t>运筹优化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Google OR-Tools / Gurobi / CPLEX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路径规划、排产排程等组合优化问题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Microsoft YaHei"/>
                        </a:rPr>
                        <a:t>可视化/BI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Superset / Tableau / ECharts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决策驾驶舱、报表分析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Microsoft YaHei"/>
                        </a:rPr>
                        <a:t>架构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Spring Cloud / Kubernetes / Docker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微服务架构、容器化部署、弹性伸缩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系统集成方案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06 系统集成与安全合规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16</a:t>
            </a:r>
          </a:p>
        </p:txBody>
      </p:sp>
      <p:sp>
        <p:nvSpPr>
          <p:cNvPr id="8" name="Oval 7"/>
          <p:cNvSpPr/>
          <p:nvPr/>
        </p:nvSpPr>
        <p:spPr>
          <a:xfrm>
            <a:off x="4937760" y="2743200"/>
            <a:ext cx="2286000" cy="13716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2743200"/>
            <a:ext cx="22860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供应链智能</a:t>
            </a:r>
          </a:p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优化平台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18872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9844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ERP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6916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订单/财务/主数据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20240.0" y="1714500.0"/>
            <a:ext cx="4160520.0" cy="1714500.0"/>
          </a:xfrm>
          <a:prstGeom prst="line">
            <a:avLst/>
          </a:prstGeom>
          <a:ln w="1651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78240" y="118872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129844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6916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生产制造执行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080760" y="1714500.0"/>
            <a:ext cx="4069080.0" cy="1714500.0"/>
          </a:xfrm>
          <a:prstGeom prst="line">
            <a:avLst/>
          </a:prstGeom>
          <a:ln w="1651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8640" y="512064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2303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WMS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235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仓储管理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920240.0" y="3429000"/>
            <a:ext cx="4160520.0" cy="2217420.0"/>
          </a:xfrm>
          <a:prstGeom prst="line">
            <a:avLst/>
          </a:prstGeom>
          <a:ln w="1651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778240" y="512064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52303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TMS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56235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运输管理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6080760" y="3429000"/>
            <a:ext cx="4069080.0" cy="2217420.0"/>
          </a:xfrm>
          <a:prstGeom prst="line">
            <a:avLst/>
          </a:prstGeom>
          <a:ln w="1651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09160" y="82296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9326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SRM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13258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供应商关系管理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80760.0" y="1348740.0"/>
            <a:ext cx="0.0" cy="2080260.0"/>
          </a:xfrm>
          <a:prstGeom prst="line">
            <a:avLst/>
          </a:prstGeom>
          <a:ln w="1651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709160" y="548640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559612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外部数据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59893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天气/宏观/舆情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6080760.0" y="3429000"/>
            <a:ext cx="0.0" cy="2583180.0"/>
          </a:xfrm>
          <a:prstGeom prst="line">
            <a:avLst/>
          </a:prstGeom>
          <a:ln w="1651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172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95959"/>
                </a:solidFill>
                <a:latin typeface="Microsoft YaHei"/>
              </a:rPr>
              <a:t>集成方式：标准API接口 / 消息队列(Kafka) / ETL批量同步，支持实时与准实时数据交换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安全与合规设计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06 系统集成与安全合规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8872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8872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数据加密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传输加密(TLS) + 存储加密，敏感数据脱敏处理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18872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60520" y="118872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18872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权限管理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78308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基于角色的访问控制(RBAC)，最小权限原则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18872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18120" y="118872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118872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审计追踪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178308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全操作日志记录，支持追溯与合规审计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9184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329184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9184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容灾备份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8620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多活部署、定期备份、灾难恢复演练(RTO/RPO达标)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29184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60520" y="329184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0520" y="329184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合规遵循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88620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符合数据安全法、个人信息保护法及行业监管要求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329184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18120" y="329184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329184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安全监测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388620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7×24小时安全监控，漏洞扫描与渗透测试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实施路线图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07 实施路线图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91840"/>
            <a:ext cx="10698480" cy="508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31670" y="3191256"/>
            <a:ext cx="274320" cy="27432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068830.0" y="3063240"/>
            <a:ext cx="0.0" cy="22860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34390" y="1280160"/>
            <a:ext cx="2468880" cy="178308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14173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一期 · 诊断与试点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17830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9E2F3"/>
                </a:solidFill>
                <a:latin typeface="Microsoft YaHei"/>
              </a:rPr>
              <a:t>1-2个月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2148840"/>
            <a:ext cx="2194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现状诊断、数据打通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需求预测单场景试点上线</a:t>
            </a:r>
          </a:p>
        </p:txBody>
      </p:sp>
      <p:sp>
        <p:nvSpPr>
          <p:cNvPr id="15" name="Oval 14"/>
          <p:cNvSpPr/>
          <p:nvPr/>
        </p:nvSpPr>
        <p:spPr>
          <a:xfrm>
            <a:off x="4606290" y="3191256"/>
            <a:ext cx="274320" cy="27432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4743450.0" y="3291840"/>
            <a:ext cx="0.0" cy="502920"/>
          </a:xfrm>
          <a:prstGeom prst="line">
            <a:avLst/>
          </a:prstGeom>
          <a:ln w="19050">
            <a:solidFill>
              <a:srgbClr val="5482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509010" y="3794760"/>
            <a:ext cx="2468880" cy="1783080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46170" y="39319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二期 · 模块扩展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6170" y="42976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9E2F3"/>
                </a:solidFill>
                <a:latin typeface="Microsoft YaHei"/>
              </a:rPr>
              <a:t>3-6个月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6170" y="4663440"/>
            <a:ext cx="2194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库存优化+运输优化模块上线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跨部门协同流程打通</a:t>
            </a:r>
          </a:p>
        </p:txBody>
      </p:sp>
      <p:sp>
        <p:nvSpPr>
          <p:cNvPr id="21" name="Oval 20"/>
          <p:cNvSpPr/>
          <p:nvPr/>
        </p:nvSpPr>
        <p:spPr>
          <a:xfrm>
            <a:off x="7280910" y="3191256"/>
            <a:ext cx="274320" cy="27432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418070.0" y="3063240"/>
            <a:ext cx="0.0" cy="228600"/>
          </a:xfrm>
          <a:prstGeom prst="line">
            <a:avLst/>
          </a:prstGeom>
          <a:ln w="19050">
            <a:solidFill>
              <a:srgbClr val="ED7D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83630" y="1280160"/>
            <a:ext cx="2468880" cy="178308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0790" y="14173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三期 · 平台建设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0790" y="17830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9E2F3"/>
                </a:solidFill>
                <a:latin typeface="Microsoft YaHei"/>
              </a:rPr>
              <a:t>7-9个月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0790" y="2148840"/>
            <a:ext cx="2194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供应商协同平台上线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决策驾驶舱全面部署</a:t>
            </a:r>
          </a:p>
        </p:txBody>
      </p:sp>
      <p:sp>
        <p:nvSpPr>
          <p:cNvPr id="27" name="Oval 26"/>
          <p:cNvSpPr/>
          <p:nvPr/>
        </p:nvSpPr>
        <p:spPr>
          <a:xfrm>
            <a:off x="9955530" y="3191256"/>
            <a:ext cx="274320" cy="2743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0092690.0" y="3291840"/>
            <a:ext cx="0.0" cy="502920"/>
          </a:xfrm>
          <a:prstGeom prst="line">
            <a:avLst/>
          </a:prstGeom>
          <a:ln w="19050">
            <a:solidFill>
              <a:srgbClr val="1F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858250" y="3794760"/>
            <a:ext cx="2468880" cy="17830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95410" y="39319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四期 · 全面智能化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5410" y="42976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9E2F3"/>
                </a:solidFill>
                <a:latin typeface="Microsoft YaHei"/>
              </a:rPr>
              <a:t>10-12个月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5410" y="4663440"/>
            <a:ext cx="2194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数字孪生仿真上线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形成闭环智能决策体系，全面推广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预期收益测算（一）：核心KPI提升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08 收益测算与风险应对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19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143000"/>
          <a:ext cx="106070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5321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95959"/>
                </a:solidFill>
                <a:latin typeface="Microsoft YaHei"/>
              </a:rPr>
              <a:t>说明：以上区间为行业标杆案例与典型试点项目的综合测算范围，实际收益需结合企业现状基线通过试点验证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预期收益测算（二）：投入产出与回收周期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08 收益测算与风险应对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20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188720"/>
          <a:ext cx="60350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766560" y="1188720"/>
          <a:ext cx="457200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257800"/>
            <a:ext cx="106984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30352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预计投资回收期(Payback Period)约为 14-18 个月，3年累计ROI预计达 180%-220%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风险识别与应对措施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08 收益测算与风险应对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4300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06240"/>
                <a:gridCol w="4663440"/>
              </a:tblGrid>
              <a:tr h="80772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风险类别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风险描述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应对措施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Microsoft YaHei"/>
                        </a:rPr>
                        <a:t>数据质量风险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历史数据缺失、口径不统一，影响模型效果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分阶段数据治理，建立数据质量监控与主数据标准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Microsoft YaHei"/>
                        </a:rPr>
                        <a:t>组织协同风险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跨部门协作意愿不足，流程变革阻力大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高层专项推动，设立跨部门项目组，配套绩效激励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Microsoft YaHei"/>
                        </a:rPr>
                        <a:t>模型效果风险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算法模型初期准确率不达预期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试点验证+小步快跑迭代，人工经验与模型结果双轨并行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Microsoft YaHei"/>
                        </a:rPr>
                        <a:t>系统集成风险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与存量系统对接复杂，工期存在不确定性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优先打通核心接口，采用中间层解耦，分批集成上线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Microsoft YaHei"/>
                        </a:rPr>
                        <a:t>人才能力风险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缺乏既懂供应链又懂数据算法的复合型人才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内部培养+外部引入结合，联合第三方专业团队共建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Microsoft YaHei"/>
              </a:rP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731520" cy="508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011680"/>
            <a:ext cx="201168" cy="20116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96596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</a:rPr>
              <a:t>以数据为基础、算法为核心，构建“预测-决策-执行-反馈”全链路智能闭环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834640"/>
            <a:ext cx="201168" cy="20116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78892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</a:rPr>
              <a:t>预计3年内实现库存周转率提升15%-30%，物流成本降低5%-15%，投资回收期约14-18个月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657600"/>
            <a:ext cx="201168" cy="20116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61188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</a:rPr>
              <a:t>分四阶段稳步推进：诊断试点 → 模块扩展 → 平台建设 → 全面智能化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480560"/>
            <a:ext cx="201168" cy="20116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4348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FFFFFF"/>
                </a:solidFill>
                <a:latin typeface="Microsoft YaHei"/>
              </a:rPr>
              <a:t>建议尽快启动一期试点，以最小成本验证价值，为全面推广奠定基础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577840"/>
            <a:ext cx="10332720" cy="822960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77840"/>
            <a:ext cx="10332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icrosoft YaHei"/>
              </a:rPr>
              <a:t>感谢聆听，敬请指正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