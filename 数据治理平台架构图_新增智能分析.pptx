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45720"/>
            <a:ext cx="12097512" cy="676656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09728"/>
            <a:ext cx="3931920" cy="45720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数据治理平台（智能分析增强版）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777240"/>
            <a:ext cx="1463040" cy="32004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数据集成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结构化接入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472184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半结构化接入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01367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非结构化接入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30551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API接入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2459735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CDC接入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2788919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开源数据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3118103"/>
            <a:ext cx="1463040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数据填报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777240"/>
            <a:ext cx="2743200" cy="32004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资源服务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15568"/>
            <a:ext cx="274320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0">
                <a:solidFill>
                  <a:srgbClr val="333333"/>
                </a:solidFill>
                <a:latin typeface="Microsoft YaHei"/>
              </a:rPr>
              <a:t>资源目录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859536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22408" y="1417320"/>
            <a:ext cx="859536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共享交换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9376" y="1417320"/>
            <a:ext cx="859536" cy="29260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服务网关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777240"/>
            <a:ext cx="7132320" cy="32004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一体化数据资产管理与运营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115568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资产目录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1115568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主数据管理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115568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数据分级分类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79" y="1115568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数据生命周期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1417320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资产地图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1417320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数据标签管理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417320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数据检索管理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79" y="1417320"/>
            <a:ext cx="1737360" cy="27432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数据安全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1874519"/>
            <a:ext cx="3383280" cy="292608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统一标准数据治理体系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2194560"/>
            <a:ext cx="1097280" cy="68580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元数据管理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2194560"/>
            <a:ext cx="2194560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数据质量管理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2551176"/>
            <a:ext cx="2194560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标准体系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1874519"/>
            <a:ext cx="3383280" cy="292608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全链路数据开发与管理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2194560"/>
            <a:ext cx="1645920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数据模型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2551176"/>
            <a:ext cx="1645920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调度管理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2194560"/>
            <a:ext cx="1645920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实时任务开发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2551176"/>
            <a:ext cx="1645920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333333"/>
                </a:solidFill>
                <a:latin typeface="Microsoft YaHei"/>
              </a:rPr>
              <a:t>离线任务开发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0" y="2331720"/>
            <a:ext cx="182880" cy="0"/>
          </a:xfrm>
          <a:prstGeom prst="bentConnector3">
            <a:avLst/>
          </a:prstGeom>
          <a:ln w="1905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235440" y="1874519"/>
            <a:ext cx="2743200" cy="292608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智能分析（新增）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2194560"/>
            <a:ext cx="1344168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多维透视分析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25328" y="2194560"/>
            <a:ext cx="1344168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智能报表/BI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2560320"/>
            <a:ext cx="1344168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异常检测与预警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25328" y="2560320"/>
            <a:ext cx="1344168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归因与关联分析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2926080"/>
            <a:ext cx="1344168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预测性分析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25328" y="2926080"/>
            <a:ext cx="1344168" cy="329184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智能问数分析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961120" y="2011680"/>
            <a:ext cx="274320" cy="0"/>
          </a:xfrm>
          <a:prstGeom prst="bentConnector3">
            <a:avLst/>
          </a:prstGeom>
          <a:ln w="1905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37360" y="1371600"/>
            <a:ext cx="182880" cy="0"/>
          </a:xfrm>
          <a:prstGeom prst="bentConnector3">
            <a:avLst/>
          </a:prstGeom>
          <a:ln w="1905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28600" y="3063240"/>
            <a:ext cx="11750040" cy="32004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数据融合智能体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" y="3474720"/>
            <a:ext cx="1866899" cy="731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502152"/>
            <a:ext cx="17754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6C3CB8"/>
                </a:solidFill>
                <a:latin typeface="Microsoft YaHei"/>
              </a:rPr>
              <a:t>数据集成智能体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" y="377647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集成任务自动生成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05228" y="3474720"/>
            <a:ext cx="1866899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50948" y="3502152"/>
            <a:ext cx="17754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6C3CB8"/>
                </a:solidFill>
                <a:latin typeface="Microsoft YaHei"/>
              </a:rPr>
              <a:t>数据开发智能体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78380" y="377647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代码生成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78380" y="4050791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代码解释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78380" y="432511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自动问题诊断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81856" y="3474720"/>
            <a:ext cx="1866899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7576" y="3502152"/>
            <a:ext cx="17754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6C3CB8"/>
                </a:solidFill>
                <a:latin typeface="Microsoft YaHei"/>
              </a:rPr>
              <a:t>数据治理智能体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5008" y="377647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元数据识别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55008" y="4050791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自动任务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55008" y="432511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自动对标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58483" y="3474720"/>
            <a:ext cx="1866899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04203" y="3502152"/>
            <a:ext cx="17754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6C3CB8"/>
                </a:solidFill>
                <a:latin typeface="Microsoft YaHei"/>
              </a:rPr>
              <a:t>数据资产智能体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1636" y="377647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自动分级分类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1636" y="4050791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智能问数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5112" y="3474720"/>
            <a:ext cx="1866899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0832" y="3502152"/>
            <a:ext cx="17754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6C3CB8"/>
                </a:solidFill>
                <a:latin typeface="Microsoft YaHei"/>
              </a:rPr>
              <a:t>数据服务智能体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08264" y="377647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自动编目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08264" y="4050791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自动服务生成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11740" y="3474720"/>
            <a:ext cx="186689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333333"/>
                </a:solidFill>
                <a:latin typeface="Microsoft YaHe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57460" y="3502152"/>
            <a:ext cx="17754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E05A2B"/>
                </a:solidFill>
                <a:latin typeface="Microsoft YaHei"/>
              </a:rPr>
              <a:t>智能分析智能体★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84892" y="377647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自动洞察生成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84892" y="4050791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智能归因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84892" y="4325112"/>
            <a:ext cx="1720596" cy="24688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预警自动推送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14400" y="2880360"/>
            <a:ext cx="0" cy="18288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657600" y="2880360"/>
            <a:ext cx="0" cy="18288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00800" y="2880360"/>
            <a:ext cx="0" cy="18288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144000" y="2880360"/>
            <a:ext cx="0" cy="18288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972800" y="2880360"/>
            <a:ext cx="0" cy="18288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228600" y="5120640"/>
            <a:ext cx="4937760" cy="32004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知识库融合构建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0040" y="5532120"/>
            <a:ext cx="2286000" cy="256032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产品知识库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0040" y="5833872"/>
            <a:ext cx="2286000" cy="27432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行业知识库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" y="6135624"/>
            <a:ext cx="2286000" cy="27432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产品FAQ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040" y="6437376"/>
            <a:ext cx="2286000" cy="27432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…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88920" y="5532120"/>
            <a:ext cx="2286000" cy="256032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知识库</a:t>
            </a:r>
          </a:p>
        </p:txBody>
      </p:sp>
      <p:sp>
        <p:nvSpPr>
          <p:cNvPr id="83" name="Can 82"/>
          <p:cNvSpPr/>
          <p:nvPr/>
        </p:nvSpPr>
        <p:spPr>
          <a:xfrm>
            <a:off x="2880360" y="5852159"/>
            <a:ext cx="914400" cy="640080"/>
          </a:xfrm>
          <a:prstGeom prst="can">
            <a:avLst/>
          </a:prstGeom>
          <a:solidFill>
            <a:srgbClr val="1FB6A6"/>
          </a:solidFill>
          <a:ln>
            <a:solidFill>
              <a:srgbClr val="6C3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向量数据库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31920" y="5852159"/>
            <a:ext cx="1051560" cy="20116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知识1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931920" y="6080759"/>
            <a:ext cx="1051560" cy="20116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知识2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931920" y="6309359"/>
            <a:ext cx="1051560" cy="201168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知识3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0040" y="6492240"/>
            <a:ext cx="4754880" cy="274320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E0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E05A2B"/>
                </a:solidFill>
                <a:latin typeface="Microsoft YaHei"/>
              </a:rPr>
              <a:t>分析知识库：指标口径库 / 业务规则库 / 历史洞察案例库（支撑智能分析）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94960" y="5120640"/>
            <a:ext cx="6583680" cy="32004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6350">
            <a:solidFill>
              <a:srgbClr val="6C3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模型支撑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0" y="5532120"/>
            <a:ext cx="3108960" cy="256032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0" y="5833872"/>
            <a:ext cx="3108960" cy="27432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DeepSeek-R1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86400" y="6135624"/>
            <a:ext cx="3108960" cy="27432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DeepSeek-V3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0" y="6437376"/>
            <a:ext cx="3108960" cy="274320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0">
                <a:solidFill>
                  <a:srgbClr val="FFFFFF"/>
                </a:solidFill>
                <a:latin typeface="Microsoft YaHei"/>
              </a:rPr>
              <a:t>…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78240" y="5532120"/>
            <a:ext cx="3108960" cy="256032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多模态模型 / 分析模型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78240" y="5833872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Embedding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351008" y="5833872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语音识别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78240" y="6126480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Rerank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351008" y="6126480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语义分析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778240" y="6419088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OCR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351008" y="6419088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时序预测模型★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78240" y="6711696"/>
            <a:ext cx="1536192" cy="265176"/>
          </a:xfrm>
          <a:prstGeom prst="roundRect">
            <a:avLst/>
          </a:prstGeom>
          <a:gradFill rotWithShape="1">
            <a:gsLst>
              <a:gs pos="0">
                <a:srgbClr val="6C3CB8"/>
              </a:gs>
              <a:gs pos="100000">
                <a:srgbClr val="1FB6A6"/>
              </a:gs>
            </a:gsLst>
            <a:lin scaled="0" ang="0"/>
          </a:gradFill>
          <a:ln w="12700">
            <a:solidFill>
              <a:srgbClr val="6C5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FFFFFF"/>
                </a:solidFill>
                <a:latin typeface="Microsoft YaHei"/>
              </a:rPr>
              <a:t>统计分析引擎★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166360" y="5943600"/>
            <a:ext cx="228600" cy="0"/>
          </a:xfrm>
          <a:prstGeom prst="bentConnector3">
            <a:avLst/>
          </a:prstGeom>
          <a:ln w="1905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286000" y="4206240"/>
            <a:ext cx="0" cy="91440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943600" y="4206240"/>
            <a:ext cx="0" cy="91440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01200" y="4206240"/>
            <a:ext cx="0" cy="914400"/>
          </a:xfrm>
          <a:prstGeom prst="bentConnector3">
            <a:avLst/>
          </a:prstGeom>
          <a:ln w="15240">
            <a:solidFill>
              <a:srgbClr val="6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228600" y="6537960"/>
            <a:ext cx="4114800" cy="228600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E0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l"/>
            <a:r>
              <a:rPr sz="800" b="1">
                <a:solidFill>
                  <a:srgbClr val="E05A2B"/>
                </a:solidFill>
                <a:latin typeface="Microsoft YaHei"/>
              </a:rPr>
              <a:t>★ 标注为本次新增“智能分析”相关内容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