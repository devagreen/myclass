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</a:rPr>
              <a:t>总体技术架构图（详细版）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82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D6EA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68680"/>
            <a:ext cx="1371600" cy="960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决策层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Decision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20" y="868680"/>
            <a:ext cx="1953158" cy="960120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供应链驾驶舱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(实时KPI监控)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19118" y="868680"/>
            <a:ext cx="1953158" cy="960120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What-if模拟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仿真决策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3716" y="868680"/>
            <a:ext cx="1953158" cy="960120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预警中心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(异常/风险)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8315" y="868680"/>
            <a:ext cx="1953158" cy="960120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决策报告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自动生成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2913" y="868680"/>
            <a:ext cx="1953158" cy="960120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移动端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协同APP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1828800"/>
            <a:ext cx="0" cy="155448"/>
          </a:xfrm>
          <a:prstGeom prst="bentConnector3">
            <a:avLst/>
          </a:prstGeom>
          <a:ln w="19050">
            <a:solidFill>
              <a:srgbClr val="5959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0040" y="2011679"/>
            <a:ext cx="1371600" cy="10972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应用层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Application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20" y="2011679"/>
            <a:ext cx="1620012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S&amp;OP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协同计划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5972" y="2011679"/>
            <a:ext cx="1620012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智能补货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7424" y="2011679"/>
            <a:ext cx="1620012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智能排产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调度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8876" y="2011679"/>
            <a:ext cx="1620012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运输路径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优化调度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20328" y="2011679"/>
            <a:ext cx="1620012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供应商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协同平台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31780" y="2011679"/>
            <a:ext cx="1620012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库存智能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监控预警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3108960"/>
            <a:ext cx="0" cy="155448"/>
          </a:xfrm>
          <a:prstGeom prst="bentConnector3">
            <a:avLst/>
          </a:prstGeom>
          <a:ln w="19050">
            <a:solidFill>
              <a:srgbClr val="5959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0040" y="3291839"/>
            <a:ext cx="1371600" cy="12344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算法层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Algorithm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20" y="3291839"/>
            <a:ext cx="1620012" cy="365760"/>
          </a:xfrm>
          <a:prstGeom prst="roundRect">
            <a:avLst/>
          </a:prstGeom>
          <a:solidFill>
            <a:srgbClr val="E8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需求预测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20" y="3675887"/>
            <a:ext cx="1620012" cy="850392"/>
          </a:xfrm>
          <a:prstGeom prst="roundRect">
            <a:avLst/>
          </a:prstGeom>
          <a:solidFill>
            <a:srgbClr val="FBE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Prophet/LSTM</a:t>
            </a:r>
          </a:p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XGBoost融合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85972" y="3291839"/>
            <a:ext cx="1620012" cy="365760"/>
          </a:xfrm>
          <a:prstGeom prst="roundRect">
            <a:avLst/>
          </a:prstGeom>
          <a:solidFill>
            <a:srgbClr val="E8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库存优化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85972" y="3675887"/>
            <a:ext cx="1620012" cy="850392"/>
          </a:xfrm>
          <a:prstGeom prst="roundRect">
            <a:avLst/>
          </a:prstGeom>
          <a:solidFill>
            <a:srgbClr val="FBE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安全库存/EOQ</a:t>
            </a:r>
          </a:p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多级库存协同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97424" y="3291839"/>
            <a:ext cx="1620012" cy="365760"/>
          </a:xfrm>
          <a:prstGeom prst="roundRect">
            <a:avLst/>
          </a:prstGeom>
          <a:solidFill>
            <a:srgbClr val="E8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路径规划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97424" y="3675887"/>
            <a:ext cx="1620012" cy="850392"/>
          </a:xfrm>
          <a:prstGeom prst="roundRect">
            <a:avLst/>
          </a:prstGeom>
          <a:solidFill>
            <a:srgbClr val="FBE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VRP/TSP</a:t>
            </a:r>
          </a:p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启发式+运筹优化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08876" y="3291839"/>
            <a:ext cx="1620012" cy="365760"/>
          </a:xfrm>
          <a:prstGeom prst="roundRect">
            <a:avLst/>
          </a:prstGeom>
          <a:solidFill>
            <a:srgbClr val="E8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供应商评估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08876" y="3675887"/>
            <a:ext cx="1620012" cy="850392"/>
          </a:xfrm>
          <a:prstGeom prst="roundRect">
            <a:avLst/>
          </a:prstGeom>
          <a:solidFill>
            <a:srgbClr val="FBE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风险评分模型</a:t>
            </a:r>
          </a:p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聚类/评分卡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20328" y="3291839"/>
            <a:ext cx="1620012" cy="365760"/>
          </a:xfrm>
          <a:prstGeom prst="roundRect">
            <a:avLst/>
          </a:prstGeom>
          <a:solidFill>
            <a:srgbClr val="E8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数字孪生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20328" y="3675887"/>
            <a:ext cx="1620012" cy="850392"/>
          </a:xfrm>
          <a:prstGeom prst="roundRect">
            <a:avLst/>
          </a:prstGeom>
          <a:solidFill>
            <a:srgbClr val="FBE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仿真引擎</a:t>
            </a:r>
          </a:p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蒙特卡洛模拟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31780" y="3291839"/>
            <a:ext cx="1620012" cy="365760"/>
          </a:xfrm>
          <a:prstGeom prst="roundRect">
            <a:avLst/>
          </a:prstGeom>
          <a:solidFill>
            <a:srgbClr val="E8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智能排产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31780" y="3675887"/>
            <a:ext cx="1620012" cy="850392"/>
          </a:xfrm>
          <a:prstGeom prst="roundRect">
            <a:avLst/>
          </a:prstGeom>
          <a:solidFill>
            <a:srgbClr val="FBE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遗传算法</a:t>
            </a:r>
          </a:p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混合整数规划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35040" y="4526279"/>
            <a:ext cx="0" cy="155448"/>
          </a:xfrm>
          <a:prstGeom prst="bentConnector3">
            <a:avLst/>
          </a:prstGeom>
          <a:ln w="19050">
            <a:solidFill>
              <a:srgbClr val="5959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874520" y="4709159"/>
            <a:ext cx="9994392" cy="502920"/>
          </a:xfrm>
          <a:prstGeom prst="round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算法与AI中台：模型训练(TensorFlow/PyTorch/Scikit-learn) | 模型管理(MLOps) | 特征平台 | 运筹优化引擎(Gurobi/OR-Tools) | 微服务框架(Spring Cloud/K8s)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4709159"/>
            <a:ext cx="1371600" cy="5029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技术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支撑层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35040" y="5212079"/>
            <a:ext cx="0" cy="155448"/>
          </a:xfrm>
          <a:prstGeom prst="bentConnector3">
            <a:avLst/>
          </a:prstGeom>
          <a:ln w="19050">
            <a:solidFill>
              <a:srgbClr val="5959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20040" y="5394959"/>
            <a:ext cx="1371600" cy="1051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数据层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Data Layer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74520" y="5394959"/>
            <a:ext cx="1953158" cy="3657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数据采集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74520" y="5779007"/>
            <a:ext cx="1953158" cy="667512"/>
          </a:xfrm>
          <a:prstGeom prst="roundRect">
            <a:avLst/>
          </a:prstGeom>
          <a:solidFill>
            <a:srgbClr val="D9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ERP/MES/WMS</a:t>
            </a:r>
          </a:p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TMS/SRM/IoT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9118" y="5394959"/>
            <a:ext cx="1953158" cy="3657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数据湖/仓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9118" y="5779007"/>
            <a:ext cx="1953158" cy="667512"/>
          </a:xfrm>
          <a:prstGeom prst="roundRect">
            <a:avLst/>
          </a:prstGeom>
          <a:solidFill>
            <a:srgbClr val="D9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Hadoop/Hive</a:t>
            </a:r>
          </a:p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ClickHouse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63716" y="5394959"/>
            <a:ext cx="1953158" cy="3657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数据治理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63716" y="5779007"/>
            <a:ext cx="1953158" cy="667512"/>
          </a:xfrm>
          <a:prstGeom prst="roundRect">
            <a:avLst/>
          </a:prstGeom>
          <a:solidFill>
            <a:srgbClr val="D9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主数据管理</a:t>
            </a:r>
          </a:p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数据质量/血缘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8315" y="5394959"/>
            <a:ext cx="1953158" cy="3657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实时计算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8315" y="5779007"/>
            <a:ext cx="1953158" cy="667512"/>
          </a:xfrm>
          <a:prstGeom prst="roundRect">
            <a:avLst/>
          </a:prstGeom>
          <a:solidFill>
            <a:srgbClr val="D9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Kafka/Flink</a:t>
            </a:r>
          </a:p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流式处理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2913" y="5394959"/>
            <a:ext cx="1953158" cy="3657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数据服务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2913" y="5779007"/>
            <a:ext cx="1953158" cy="667512"/>
          </a:xfrm>
          <a:prstGeom prst="roundRect">
            <a:avLst/>
          </a:prstGeom>
          <a:solidFill>
            <a:srgbClr val="D9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API网关</a:t>
            </a:r>
          </a:p>
          <a:p>
            <a:pPr algn="ctr"/>
            <a:r>
              <a:rPr sz="850" b="0">
                <a:solidFill>
                  <a:srgbClr val="1F2A44"/>
                </a:solidFill>
                <a:latin typeface="Microsoft YaHei"/>
              </a:rPr>
              <a:t>数据服务总线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35040" y="6446519"/>
            <a:ext cx="0" cy="137160"/>
          </a:xfrm>
          <a:prstGeom prst="bentConnector3">
            <a:avLst/>
          </a:prstGeom>
          <a:ln w="19050">
            <a:solidFill>
              <a:srgbClr val="5959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20040" y="6601967"/>
            <a:ext cx="1371600" cy="384048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数据源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874520" y="6601967"/>
            <a:ext cx="1221867" cy="3840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0">
                <a:solidFill>
                  <a:srgbClr val="1F2A44"/>
                </a:solidFill>
                <a:latin typeface="Microsoft YaHei"/>
              </a:rPr>
              <a:t>ERP系统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51251" y="6601967"/>
            <a:ext cx="1221867" cy="3840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0">
                <a:solidFill>
                  <a:srgbClr val="1F2A44"/>
                </a:solidFill>
                <a:latin typeface="Microsoft YaHei"/>
              </a:rPr>
              <a:t>MES系统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27982" y="6601967"/>
            <a:ext cx="1221867" cy="3840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0">
                <a:solidFill>
                  <a:srgbClr val="1F2A44"/>
                </a:solidFill>
                <a:latin typeface="Microsoft YaHei"/>
              </a:rPr>
              <a:t>WMS仓储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04713" y="6601967"/>
            <a:ext cx="1221867" cy="3840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0">
                <a:solidFill>
                  <a:srgbClr val="1F2A44"/>
                </a:solidFill>
                <a:latin typeface="Microsoft YaHei"/>
              </a:rPr>
              <a:t>TMS运输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81444" y="6601967"/>
            <a:ext cx="1221867" cy="3840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0">
                <a:solidFill>
                  <a:srgbClr val="1F2A44"/>
                </a:solidFill>
                <a:latin typeface="Microsoft YaHei"/>
              </a:rPr>
              <a:t>SRM采购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58175" y="6601967"/>
            <a:ext cx="1221867" cy="3840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0">
                <a:solidFill>
                  <a:srgbClr val="1F2A44"/>
                </a:solidFill>
                <a:latin typeface="Microsoft YaHei"/>
              </a:rPr>
              <a:t>经销商/门店系统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34906" y="6601967"/>
            <a:ext cx="1221867" cy="3840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0">
                <a:solidFill>
                  <a:srgbClr val="1F2A44"/>
                </a:solidFill>
                <a:latin typeface="Microsoft YaHei"/>
              </a:rPr>
              <a:t>IoT/传感器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811637" y="6601967"/>
            <a:ext cx="1221867" cy="3840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0">
                <a:solidFill>
                  <a:srgbClr val="1F2A44"/>
                </a:solidFill>
                <a:latin typeface="Microsoft YaHei"/>
              </a:rPr>
              <a:t>外部数据(天气/舆情)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0040" y="7095743"/>
            <a:ext cx="5728716" cy="365760"/>
          </a:xfrm>
          <a:prstGeom prst="roundRect">
            <a:avLst/>
          </a:prstGeom>
          <a:solidFill>
            <a:srgbClr val="8E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安全合规体系：数据加密 | 权限管控(RBAC) | 审计日志 | 容灾备份 | 等保合规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40196" y="7095743"/>
            <a:ext cx="5728716" cy="365760"/>
          </a:xfrm>
          <a:prstGeom prst="roundRect">
            <a:avLst/>
          </a:prstGeom>
          <a:solidFill>
            <a:srgbClr val="5A3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标准规范体系：数据标准 | 接口标准 | 编码规范 | 运维监控标准(DevOps)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