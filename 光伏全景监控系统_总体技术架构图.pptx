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总体技术架构 —— 光伏电站全景监控系统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960120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决策层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83080"/>
            <a:ext cx="96012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788920"/>
            <a:ext cx="960120" cy="10515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算法与AI层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77639"/>
            <a:ext cx="960120" cy="5029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技术支撑层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617720"/>
            <a:ext cx="960120" cy="1051560"/>
          </a:xfrm>
          <a:prstGeom prst="roundRect">
            <a:avLst/>
          </a:prstGeom>
          <a:solidFill>
            <a:srgbClr val="1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806440"/>
            <a:ext cx="96012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接入/设备层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914400"/>
            <a:ext cx="2011679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光伏全景驾驶舱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(全国/区域/单站三级视图)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914400"/>
            <a:ext cx="2011679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发电量预测与偏差分析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59" y="914400"/>
            <a:ext cx="2011679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故障预警与工单调度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914400"/>
            <a:ext cx="2011679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收益结算报表自动生成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914400"/>
            <a:ext cx="2011679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移动端App/大屏可视化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1783080"/>
            <a:ext cx="166116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设备台账管理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9920" y="1783080"/>
            <a:ext cx="166116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实时发电监控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2520" y="1783080"/>
            <a:ext cx="166116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智能诊断分析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(逆变器/组件/汇流箱)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783080"/>
            <a:ext cx="166116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能效对标分析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27720" y="1783080"/>
            <a:ext cx="166116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清洁度/遮挡分析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80320" y="1783080"/>
            <a:ext cx="1661160" cy="8686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50" b="0">
                <a:solidFill>
                  <a:srgbClr val="FFFFFF"/>
                </a:solidFill>
                <a:latin typeface="微软雅黑"/>
              </a:rPr>
              <a:t>运维工单协同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2788920"/>
            <a:ext cx="2011679" cy="10515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发电量预测</a:t>
            </a:r>
          </a:p>
          <a:p>
            <a:pPr algn="ctr"/>
            <a:r>
              <a:rPr sz="850">
                <a:solidFill>
                  <a:srgbClr val="E8DAF5"/>
                </a:solidFill>
                <a:latin typeface="微软雅黑"/>
              </a:rPr>
              <a:t>气象融合+LSTM/XGBoost</a:t>
            </a:r>
            <a:br/>
            <a:r>
              <a:t>短期/中长期预测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2788920"/>
            <a:ext cx="2011679" cy="10515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异常检测</a:t>
            </a:r>
          </a:p>
          <a:p>
            <a:pPr algn="ctr"/>
            <a:r>
              <a:rPr sz="850">
                <a:solidFill>
                  <a:srgbClr val="E8DAF5"/>
                </a:solidFill>
                <a:latin typeface="微软雅黑"/>
              </a:rPr>
              <a:t>组串级功率异常</a:t>
            </a:r>
            <a:br/>
            <a:r>
              <a:t>孤立森林/自编码器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59" y="2788920"/>
            <a:ext cx="2011679" cy="10515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故障诊断</a:t>
            </a:r>
          </a:p>
          <a:p>
            <a:pPr algn="ctr"/>
            <a:r>
              <a:rPr sz="850">
                <a:solidFill>
                  <a:srgbClr val="E8DAF5"/>
                </a:solidFill>
                <a:latin typeface="微软雅黑"/>
              </a:rPr>
              <a:t>逆变器/热斑识别</a:t>
            </a:r>
            <a:br/>
            <a:r>
              <a:t>CNN图像识别(红外/无人机)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788920"/>
            <a:ext cx="2011679" cy="10515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能效优化</a:t>
            </a:r>
          </a:p>
          <a:p>
            <a:pPr algn="ctr"/>
            <a:r>
              <a:rPr sz="850">
                <a:solidFill>
                  <a:srgbClr val="E8DAF5"/>
                </a:solidFill>
                <a:latin typeface="微软雅黑"/>
              </a:rPr>
              <a:t>PR性能比分析</a:t>
            </a:r>
            <a:br/>
            <a:r>
              <a:t>最优发电曲线拟合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788920"/>
            <a:ext cx="2011679" cy="105156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数字孪生</a:t>
            </a:r>
          </a:p>
          <a:p>
            <a:pPr algn="ctr"/>
            <a:r>
              <a:rPr sz="850">
                <a:solidFill>
                  <a:srgbClr val="E8DAF5"/>
                </a:solidFill>
                <a:latin typeface="微软雅黑"/>
              </a:rPr>
              <a:t>电站三维建模</a:t>
            </a:r>
            <a:br/>
            <a:r>
              <a:t>仿真推演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3977639"/>
            <a:ext cx="2011679" cy="5029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TensorFlow/PyTorch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3977639"/>
            <a:ext cx="2011679" cy="5029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MLOps模型管理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59" y="3977639"/>
            <a:ext cx="2011679" cy="5029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时序数据库(InfluxDB/TDengine)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977639"/>
            <a:ext cx="2011679" cy="5029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规则引擎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3977639"/>
            <a:ext cx="2011679" cy="5029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微服务(Spring Cloud/K8s)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4617720"/>
            <a:ext cx="2011679" cy="1051560"/>
          </a:xfrm>
          <a:prstGeom prst="roundRect">
            <a:avLst/>
          </a:prstGeom>
          <a:solidFill>
            <a:srgbClr val="1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数据采集</a:t>
            </a:r>
          </a:p>
          <a:p>
            <a:pPr algn="ctr"/>
            <a:r>
              <a:rPr sz="830">
                <a:solidFill>
                  <a:srgbClr val="D3EFE8"/>
                </a:solidFill>
                <a:latin typeface="微软雅黑"/>
              </a:rPr>
              <a:t>SCADA/逆变器</a:t>
            </a:r>
            <a:br/>
            <a:r>
              <a:t>气象站数据接入</a:t>
            </a:r>
            <a:br/>
            <a:r>
              <a:t>Modbus/IEC104/MQTT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4617720"/>
            <a:ext cx="2011679" cy="1051560"/>
          </a:xfrm>
          <a:prstGeom prst="roundRect">
            <a:avLst/>
          </a:prstGeom>
          <a:solidFill>
            <a:srgbClr val="1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实时计算</a:t>
            </a:r>
          </a:p>
          <a:p>
            <a:pPr algn="ctr"/>
            <a:r>
              <a:rPr sz="830">
                <a:solidFill>
                  <a:srgbClr val="D3EFE8"/>
                </a:solidFill>
                <a:latin typeface="微软雅黑"/>
              </a:rPr>
              <a:t>Kafka + Flink</a:t>
            </a:r>
            <a:br/>
            <a:r>
              <a:t>流式处理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59" y="4617720"/>
            <a:ext cx="2011679" cy="1051560"/>
          </a:xfrm>
          <a:prstGeom prst="roundRect">
            <a:avLst/>
          </a:prstGeom>
          <a:solidFill>
            <a:srgbClr val="1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数据湖仓</a:t>
            </a:r>
          </a:p>
          <a:p>
            <a:pPr algn="ctr"/>
            <a:r>
              <a:rPr sz="830">
                <a:solidFill>
                  <a:srgbClr val="D3EFE8"/>
                </a:solidFill>
                <a:latin typeface="微软雅黑"/>
              </a:rPr>
              <a:t>Hadoop/Hive</a:t>
            </a:r>
            <a:br/>
            <a:r>
              <a:t>ClickHouse明细存储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617720"/>
            <a:ext cx="2011679" cy="1051560"/>
          </a:xfrm>
          <a:prstGeom prst="roundRect">
            <a:avLst/>
          </a:prstGeom>
          <a:solidFill>
            <a:srgbClr val="1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数据治理</a:t>
            </a:r>
          </a:p>
          <a:p>
            <a:pPr algn="ctr"/>
            <a:r>
              <a:rPr sz="830">
                <a:solidFill>
                  <a:srgbClr val="D3EFE8"/>
                </a:solidFill>
                <a:latin typeface="微软雅黑"/>
              </a:rPr>
              <a:t>主数据管理</a:t>
            </a:r>
            <a:br/>
            <a:r>
              <a:t>数据质量校验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4617720"/>
            <a:ext cx="2011679" cy="1051560"/>
          </a:xfrm>
          <a:prstGeom prst="roundRect">
            <a:avLst/>
          </a:prstGeom>
          <a:solidFill>
            <a:srgbClr val="1F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b="1" sz="1050">
                <a:solidFill>
                  <a:srgbClr val="FFFFFF"/>
                </a:solidFill>
                <a:latin typeface="微软雅黑"/>
              </a:rPr>
              <a:t>数据服务</a:t>
            </a:r>
          </a:p>
          <a:p>
            <a:pPr algn="ctr"/>
            <a:r>
              <a:rPr sz="830">
                <a:solidFill>
                  <a:srgbClr val="D3EFE8"/>
                </a:solidFill>
                <a:latin typeface="微软雅黑"/>
              </a:rPr>
              <a:t>统一API网关</a:t>
            </a:r>
            <a:br/>
            <a:r>
              <a:t>数据服务总线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5806440"/>
            <a:ext cx="166116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逆变器/组件/汇流箱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9920" y="5806440"/>
            <a:ext cx="166116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气象站(辐照度/温湿度/风速)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520" y="5806440"/>
            <a:ext cx="166116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无人机/红外热成像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806440"/>
            <a:ext cx="166116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智能电表/计量装置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27720" y="5806440"/>
            <a:ext cx="166116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视频监控/门禁安防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80320" y="5806440"/>
            <a:ext cx="1661160" cy="777240"/>
          </a:xfrm>
          <a:prstGeom prst="roundRect">
            <a:avLst/>
          </a:prstGeom>
          <a:solidFill>
            <a:srgbClr val="A5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第三方数据(电网/交易平台)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920240" y="1691640"/>
            <a:ext cx="0" cy="9144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920240" y="26517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920240" y="3840480"/>
            <a:ext cx="0" cy="137159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920240" y="44805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0240" y="566928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1691640"/>
            <a:ext cx="0" cy="9144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26517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72000" y="3840480"/>
            <a:ext cx="0" cy="137159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0" y="44805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0" y="566928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5200" y="1691640"/>
            <a:ext cx="0" cy="9144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26517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15200" y="3840480"/>
            <a:ext cx="0" cy="137159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315200" y="44805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15200" y="566928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058400" y="1691640"/>
            <a:ext cx="0" cy="9144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058400" y="26517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058400" y="3840480"/>
            <a:ext cx="0" cy="137159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058400" y="448056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058400" y="5669280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74320" y="6656832"/>
            <a:ext cx="11612880" cy="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95959"/>
                </a:solidFill>
                <a:latin typeface="微软雅黑"/>
              </a:rPr>
              <a:t>贯穿支撑：数据安全（传输加密/权限管控/审计日志） | 标准规范（设备接入标准/数据标准/接口标准） | 高可用与容灾（多活部署/断点续传/边缘计算）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